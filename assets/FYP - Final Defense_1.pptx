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70" r:id="rId12"/>
    <p:sldId id="272" r:id="rId13"/>
    <p:sldId id="273" r:id="rId14"/>
    <p:sldId id="274" r:id="rId15"/>
    <p:sldId id="275" r:id="rId16"/>
    <p:sldId id="281" r:id="rId17"/>
    <p:sldId id="282" r:id="rId18"/>
    <p:sldId id="284" r:id="rId19"/>
    <p:sldId id="290" r:id="rId20"/>
    <p:sldId id="292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93BB59-3ED3-45B5-BCC6-4F7F6D24D07C}" v="3" dt="2026-10-15T08:53:13.024"/>
  </p1510:revLst>
</p1510:revInfo>
</file>

<file path=ppt/tableStyles.xml><?xml version="1.0" encoding="utf-8"?>
<a:tblStyleLst xmlns:a="http://schemas.openxmlformats.org/drawingml/2006/main" def="{92FF51AE-253E-4EA6-B05D-D43B1A970DB9}">
  <a:tblStyle styleId="{92FF51AE-253E-4EA6-B05D-D43B1A970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C59D4F-15B1-44D4-854B-5059704C99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6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b hi" userId="5cfa617f3cd4d39f" providerId="LiveId" clId="{EB8381AE-062C-4F9B-8650-E3A55F40315F}"/>
    <pc:docChg chg="delSld modSld sldOrd">
      <pc:chgData name="muneeb hi" userId="5cfa617f3cd4d39f" providerId="LiveId" clId="{EB8381AE-062C-4F9B-8650-E3A55F40315F}" dt="2026-10-15T08:53:14.578" v="37" actId="20577"/>
      <pc:docMkLst>
        <pc:docMk/>
      </pc:docMkLst>
      <pc:sldChg chg="modSp mod">
        <pc:chgData name="muneeb hi" userId="5cfa617f3cd4d39f" providerId="LiveId" clId="{EB8381AE-062C-4F9B-8650-E3A55F40315F}" dt="2026-10-15T08:53:14.578" v="37" actId="20577"/>
        <pc:sldMkLst>
          <pc:docMk/>
          <pc:sldMk cId="0" sldId="256"/>
        </pc:sldMkLst>
        <pc:spChg chg="mod">
          <ac:chgData name="muneeb hi" userId="5cfa617f3cd4d39f" providerId="LiveId" clId="{EB8381AE-062C-4F9B-8650-E3A55F40315F}" dt="2026-10-15T08:53:14.578" v="37" actId="20577"/>
          <ac:spMkLst>
            <pc:docMk/>
            <pc:sldMk cId="0" sldId="256"/>
            <ac:spMk id="55" creationId="{00000000-0000-0000-0000-000000000000}"/>
          </ac:spMkLst>
        </pc:spChg>
      </pc:sldChg>
      <pc:sldChg chg="del">
        <pc:chgData name="muneeb hi" userId="5cfa617f3cd4d39f" providerId="LiveId" clId="{EB8381AE-062C-4F9B-8650-E3A55F40315F}" dt="2026-10-15T08:51:52.028" v="29" actId="47"/>
        <pc:sldMkLst>
          <pc:docMk/>
          <pc:sldMk cId="0" sldId="263"/>
        </pc:sldMkLst>
      </pc:sldChg>
      <pc:sldChg chg="del">
        <pc:chgData name="muneeb hi" userId="5cfa617f3cd4d39f" providerId="LiveId" clId="{EB8381AE-062C-4F9B-8650-E3A55F40315F}" dt="2026-10-15T08:52:01.635" v="30" actId="47"/>
        <pc:sldMkLst>
          <pc:docMk/>
          <pc:sldMk cId="0" sldId="264"/>
        </pc:sldMkLst>
      </pc:sldChg>
      <pc:sldChg chg="del">
        <pc:chgData name="muneeb hi" userId="5cfa617f3cd4d39f" providerId="LiveId" clId="{EB8381AE-062C-4F9B-8650-E3A55F40315F}" dt="2026-10-15T08:51:12.229" v="25" actId="47"/>
        <pc:sldMkLst>
          <pc:docMk/>
          <pc:sldMk cId="0" sldId="268"/>
        </pc:sldMkLst>
      </pc:sldChg>
      <pc:sldChg chg="del ord">
        <pc:chgData name="muneeb hi" userId="5cfa617f3cd4d39f" providerId="LiveId" clId="{EB8381AE-062C-4F9B-8650-E3A55F40315F}" dt="2026-10-15T08:51:25.079" v="28" actId="47"/>
        <pc:sldMkLst>
          <pc:docMk/>
          <pc:sldMk cId="0" sldId="269"/>
        </pc:sldMkLst>
      </pc:sldChg>
      <pc:sldChg chg="del">
        <pc:chgData name="muneeb hi" userId="5cfa617f3cd4d39f" providerId="LiveId" clId="{EB8381AE-062C-4F9B-8650-E3A55F40315F}" dt="2026-10-15T08:51:03.049" v="24" actId="47"/>
        <pc:sldMkLst>
          <pc:docMk/>
          <pc:sldMk cId="0" sldId="271"/>
        </pc:sldMkLst>
      </pc:sldChg>
      <pc:sldChg chg="del">
        <pc:chgData name="muneeb hi" userId="5cfa617f3cd4d39f" providerId="LiveId" clId="{EB8381AE-062C-4F9B-8650-E3A55F40315F}" dt="2026-10-15T08:50:26.943" v="23" actId="47"/>
        <pc:sldMkLst>
          <pc:docMk/>
          <pc:sldMk cId="0" sldId="278"/>
        </pc:sldMkLst>
      </pc:sldChg>
      <pc:sldChg chg="del">
        <pc:chgData name="muneeb hi" userId="5cfa617f3cd4d39f" providerId="LiveId" clId="{EB8381AE-062C-4F9B-8650-E3A55F40315F}" dt="2026-10-15T08:50:25.407" v="22" actId="47"/>
        <pc:sldMkLst>
          <pc:docMk/>
          <pc:sldMk cId="0" sldId="279"/>
        </pc:sldMkLst>
      </pc:sldChg>
      <pc:sldChg chg="del">
        <pc:chgData name="muneeb hi" userId="5cfa617f3cd4d39f" providerId="LiveId" clId="{EB8381AE-062C-4F9B-8650-E3A55F40315F}" dt="2026-10-15T08:50:03.289" v="20" actId="47"/>
        <pc:sldMkLst>
          <pc:docMk/>
          <pc:sldMk cId="0" sldId="283"/>
        </pc:sldMkLst>
      </pc:sldChg>
      <pc:sldChg chg="mod modShow">
        <pc:chgData name="muneeb hi" userId="5cfa617f3cd4d39f" providerId="LiveId" clId="{EB8381AE-062C-4F9B-8650-E3A55F40315F}" dt="2026-10-15T08:50:20.717" v="21" actId="34476"/>
        <pc:sldMkLst>
          <pc:docMk/>
          <pc:sldMk cId="0" sldId="284"/>
        </pc:sldMkLst>
      </pc:sldChg>
      <pc:sldChg chg="del">
        <pc:chgData name="muneeb hi" userId="5cfa617f3cd4d39f" providerId="LiveId" clId="{EB8381AE-062C-4F9B-8650-E3A55F40315F}" dt="2026-10-15T08:50:01.105" v="19" actId="47"/>
        <pc:sldMkLst>
          <pc:docMk/>
          <pc:sldMk cId="0" sldId="285"/>
        </pc:sldMkLst>
      </pc:sldChg>
      <pc:sldChg chg="del">
        <pc:chgData name="muneeb hi" userId="5cfa617f3cd4d39f" providerId="LiveId" clId="{EB8381AE-062C-4F9B-8650-E3A55F40315F}" dt="2026-10-15T08:49:52.964" v="18" actId="47"/>
        <pc:sldMkLst>
          <pc:docMk/>
          <pc:sldMk cId="0" sldId="288"/>
        </pc:sldMkLst>
      </pc:sldChg>
      <pc:sldChg chg="del">
        <pc:chgData name="muneeb hi" userId="5cfa617f3cd4d39f" providerId="LiveId" clId="{EB8381AE-062C-4F9B-8650-E3A55F40315F}" dt="2026-10-15T08:49:48.805" v="17" actId="47"/>
        <pc:sldMkLst>
          <pc:docMk/>
          <pc:sldMk cId="0" sldId="289"/>
        </pc:sldMkLst>
      </pc:sldChg>
      <pc:sldChg chg="del">
        <pc:chgData name="muneeb hi" userId="5cfa617f3cd4d39f" providerId="LiveId" clId="{EB8381AE-062C-4F9B-8650-E3A55F40315F}" dt="2026-10-15T08:49:37.667" v="15" actId="47"/>
        <pc:sldMkLst>
          <pc:docMk/>
          <pc:sldMk cId="0" sldId="291"/>
        </pc:sldMkLst>
      </pc:sldChg>
      <pc:sldChg chg="del">
        <pc:chgData name="muneeb hi" userId="5cfa617f3cd4d39f" providerId="LiveId" clId="{EB8381AE-062C-4F9B-8650-E3A55F40315F}" dt="2026-10-15T08:49:42.752" v="16" actId="47"/>
        <pc:sldMkLst>
          <pc:docMk/>
          <pc:sldMk cId="0" sldId="293"/>
        </pc:sldMkLst>
      </pc:sldChg>
      <pc:sldChg chg="mod modShow">
        <pc:chgData name="muneeb hi" userId="5cfa617f3cd4d39f" providerId="LiveId" clId="{EB8381AE-062C-4F9B-8650-E3A55F40315F}" dt="2026-10-15T08:46:28.238" v="14" actId="34476"/>
        <pc:sldMkLst>
          <pc:docMk/>
          <pc:sldMk cId="0" sldId="310"/>
        </pc:sldMkLst>
      </pc:sldChg>
      <pc:sldChg chg="mod modShow">
        <pc:chgData name="muneeb hi" userId="5cfa617f3cd4d39f" providerId="LiveId" clId="{EB8381AE-062C-4F9B-8650-E3A55F40315F}" dt="2026-10-15T08:46:25.912" v="13" actId="34476"/>
        <pc:sldMkLst>
          <pc:docMk/>
          <pc:sldMk cId="0" sldId="311"/>
        </pc:sldMkLst>
      </pc:sldChg>
      <pc:sldChg chg="mod modShow">
        <pc:chgData name="muneeb hi" userId="5cfa617f3cd4d39f" providerId="LiveId" clId="{EB8381AE-062C-4F9B-8650-E3A55F40315F}" dt="2026-10-15T08:46:12.031" v="12" actId="34476"/>
        <pc:sldMkLst>
          <pc:docMk/>
          <pc:sldMk cId="0" sldId="316"/>
        </pc:sldMkLst>
      </pc:sldChg>
      <pc:sldChg chg="mod modShow">
        <pc:chgData name="muneeb hi" userId="5cfa617f3cd4d39f" providerId="LiveId" clId="{EB8381AE-062C-4F9B-8650-E3A55F40315F}" dt="2026-10-15T08:46:08.771" v="11" actId="34476"/>
        <pc:sldMkLst>
          <pc:docMk/>
          <pc:sldMk cId="0" sldId="317"/>
        </pc:sldMkLst>
      </pc:sldChg>
      <pc:sldChg chg="mod modShow">
        <pc:chgData name="muneeb hi" userId="5cfa617f3cd4d39f" providerId="LiveId" clId="{EB8381AE-062C-4F9B-8650-E3A55F40315F}" dt="2026-10-15T08:46:06.713" v="10" actId="34476"/>
        <pc:sldMkLst>
          <pc:docMk/>
          <pc:sldMk cId="0" sldId="318"/>
        </pc:sldMkLst>
      </pc:sldChg>
      <pc:sldChg chg="addSp delSp modSp del mod modNotes">
        <pc:chgData name="muneeb hi" userId="5cfa617f3cd4d39f" providerId="LiveId" clId="{EB8381AE-062C-4F9B-8650-E3A55F40315F}" dt="2026-10-15T08:45:24.126" v="6" actId="2696"/>
        <pc:sldMkLst>
          <pc:docMk/>
          <pc:sldMk cId="0" sldId="323"/>
        </pc:sldMkLst>
        <pc:spChg chg="add del mod">
          <ac:chgData name="muneeb hi" userId="5cfa617f3cd4d39f" providerId="LiveId" clId="{EB8381AE-062C-4F9B-8650-E3A55F40315F}" dt="2026-10-15T08:45:20.458" v="2"/>
          <ac:spMkLst>
            <pc:docMk/>
            <pc:sldMk cId="0" sldId="323"/>
            <ac:spMk id="2" creationId="{5E93BA24-E89B-8524-0EE4-F25C2A7D2E79}"/>
          </ac:spMkLst>
        </pc:spChg>
        <pc:spChg chg="add del mod">
          <ac:chgData name="muneeb hi" userId="5cfa617f3cd4d39f" providerId="LiveId" clId="{EB8381AE-062C-4F9B-8650-E3A55F40315F}" dt="2026-10-15T08:45:21.934" v="5"/>
          <ac:spMkLst>
            <pc:docMk/>
            <pc:sldMk cId="0" sldId="323"/>
            <ac:spMk id="3" creationId="{112352AF-0F29-C518-C5BB-5A30A78B67CD}"/>
          </ac:spMkLst>
        </pc:spChg>
      </pc:sldChg>
      <pc:sldChg chg="mod modShow">
        <pc:chgData name="muneeb hi" userId="5cfa617f3cd4d39f" providerId="LiveId" clId="{EB8381AE-062C-4F9B-8650-E3A55F40315F}" dt="2026-10-15T08:46:01.103" v="9" actId="34476"/>
        <pc:sldMkLst>
          <pc:docMk/>
          <pc:sldMk cId="0" sldId="325"/>
        </pc:sldMkLst>
      </pc:sldChg>
      <pc:sldChg chg="mod modShow">
        <pc:chgData name="muneeb hi" userId="5cfa617f3cd4d39f" providerId="LiveId" clId="{EB8381AE-062C-4F9B-8650-E3A55F40315F}" dt="2026-10-15T08:45:58.493" v="8" actId="34476"/>
        <pc:sldMkLst>
          <pc:docMk/>
          <pc:sldMk cId="0" sldId="326"/>
        </pc:sldMkLst>
      </pc:sldChg>
      <pc:sldChg chg="mod modShow">
        <pc:chgData name="muneeb hi" userId="5cfa617f3cd4d39f" providerId="LiveId" clId="{EB8381AE-062C-4F9B-8650-E3A55F40315F}" dt="2026-10-15T08:45:51.176" v="7" actId="34476"/>
        <pc:sldMkLst>
          <pc:docMk/>
          <pc:sldMk cId="0" sldId="327"/>
        </pc:sldMkLst>
      </pc:sldChg>
      <pc:sldChg chg="del">
        <pc:chgData name="muneeb hi" userId="5cfa617f3cd4d39f" providerId="LiveId" clId="{EB8381AE-062C-4F9B-8650-E3A55F40315F}" dt="2026-10-15T08:52:49.032" v="31" actId="47"/>
        <pc:sldMkLst>
          <pc:docMk/>
          <pc:sldMk cId="0" sldId="334"/>
        </pc:sldMkLst>
      </pc:sldChg>
      <pc:sldChg chg="del">
        <pc:chgData name="muneeb hi" userId="5cfa617f3cd4d39f" providerId="LiveId" clId="{EB8381AE-062C-4F9B-8650-E3A55F40315F}" dt="2026-10-15T08:52:57.369" v="33" actId="47"/>
        <pc:sldMkLst>
          <pc:docMk/>
          <pc:sldMk cId="0" sldId="335"/>
        </pc:sldMkLst>
      </pc:sldChg>
      <pc:sldChg chg="del">
        <pc:chgData name="muneeb hi" userId="5cfa617f3cd4d39f" providerId="LiveId" clId="{EB8381AE-062C-4F9B-8650-E3A55F40315F}" dt="2026-10-15T08:52:52.676" v="32" actId="47"/>
        <pc:sldMkLst>
          <pc:docMk/>
          <pc:sldMk cId="0" sldId="3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7ca4c71925a5be8d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7ca4c71925a5be8d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5410854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5410854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fa7e2322e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fa7e2322e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91c8b74a67bd7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91c8b74a67bd7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fa7e2322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fa7e2322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fa7e2322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ffa7e2322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5410854e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5410854e8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91c8b74a67bd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91c8b74a67bd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5f040eee7fd7f1d9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5f040eee7fd7f1d9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56fbaf91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56fbaf91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5410854e8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5410854e8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5410854e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5410854e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5410854e8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5410854e8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96b769141ba139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96b769141ba139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96b769141ba139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96b769141ba139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96b769141ba13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396b769141ba13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5410854e8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5410854e8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556fbaf91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556fbaf91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556fbaf91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556fbaf91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56fbaf91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56fbaf91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56fbaf91d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556fbaf91d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56fbaf91d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556fbaf91d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556fbaf91d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556fbaf91d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56fbaf91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556fbaf91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56fbaf91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556fbaf91d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556fbaf91d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556fbaf91d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56fbaf91d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556fbaf91d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556fbaf91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556fbaf91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56fbaf91d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556fbaf91d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556fbaf91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556fbaf91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556fbaf91d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556fbaf91d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556fbaf91d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556fbaf91d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56fbaf91d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56fbaf91d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56fbaf91d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56fbaf91d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556fbaf91d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556fbaf91d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556fbaf91d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556fbaf91d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556fbaf91d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556fbaf91d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556fbaf91d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556fbaf91d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56fbaf91d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556fbaf91d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396b769141ba139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396b769141ba139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6b769141ba139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396b769141ba139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396b769141ba139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396b769141ba139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556fbaf91d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556fbaf91d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556fbaf91d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556fbaf91d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556fbaf91d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556fbaf91d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56fbaf91d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56fbaf91d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556fbaf91d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556fbaf91d_1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556fbaf91d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556fbaf91d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556fbaf91d_1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556fbaf91d_1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d10c35a3d807535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d10c35a3d807535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5f040eee7fd7f1d9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5f040eee7fd7f1d9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d10c35a3d80753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d10c35a3d80753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556fbaf91d_1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556fbaf91d_1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556fbaf91d_1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556fbaf91d_1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556fbaf91d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556fbaf91d_1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556fbaf91d_1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556fbaf91d_1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fa7e2322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ffa7e2322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ffa7e2322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ffa7e2322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ndgjc6rB3PUYsk2rTvTVLaJSXp1PAwBl/view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JHIvJGQhviLe3Cp2Vt9djywb1VlHPcdD/view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CrLQHzCvxTYqlENlSp80KGBclyKCWueo/view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gif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5500" y="257750"/>
            <a:ext cx="8662500" cy="1715400"/>
          </a:xfrm>
          <a:prstGeom prst="roundRect">
            <a:avLst>
              <a:gd name="adj" fmla="val 16667"/>
            </a:avLst>
          </a:prstGeom>
          <a:solidFill>
            <a:srgbClr val="FF7E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Mobile Robot for Smart Restaurants</a:t>
            </a:r>
            <a:endParaRPr sz="3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54613" y="2167550"/>
            <a:ext cx="3391800" cy="2719800"/>
          </a:xfrm>
          <a:prstGeom prst="roundRect">
            <a:avLst>
              <a:gd name="adj" fmla="val 8762"/>
            </a:avLst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Members:</a:t>
            </a:r>
            <a:endParaRPr sz="18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ctr">
              <a:lnSpc>
                <a:spcPct val="115000"/>
              </a:lnSpc>
            </a:pPr>
            <a:r>
              <a:rPr lang="en" sz="18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Muneeb Ahmad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Ahmed Saeed</a:t>
            </a:r>
            <a:endParaRPr sz="18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Mohib Ahmed</a:t>
            </a:r>
            <a:endParaRPr sz="18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Muhammad Zakriya </a:t>
            </a:r>
            <a:endParaRPr sz="18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497588" y="2167550"/>
            <a:ext cx="3391800" cy="2719800"/>
          </a:xfrm>
          <a:prstGeom prst="roundRect">
            <a:avLst>
              <a:gd name="adj" fmla="val 8762"/>
            </a:avLst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Supervisor: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Dr. Uzair Khaleeq uz Zaman</a:t>
            </a:r>
            <a:endParaRPr sz="17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Co-Supervisors:  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Dr. Anas Bin Aqeel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A/P Kanwal Naveed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200" y="2587900"/>
            <a:ext cx="1879100" cy="187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89200" y="1024525"/>
            <a:ext cx="8565600" cy="36387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Design &amp; Construct a </a:t>
            </a:r>
            <a:r>
              <a:rPr lang="en" sz="2400" b="1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Mobile Line Following Robot</a:t>
            </a:r>
            <a:r>
              <a:rPr lang="en"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Can </a:t>
            </a:r>
            <a:r>
              <a:rPr lang="en" sz="2400" b="1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Automate</a:t>
            </a:r>
            <a:r>
              <a:rPr lang="en"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Job of a Waiter In a Restaurant Environment </a:t>
            </a:r>
            <a:endParaRPr sz="24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240750" y="81504"/>
            <a:ext cx="8662500" cy="838200"/>
          </a:xfrm>
          <a:prstGeom prst="roundRect">
            <a:avLst>
              <a:gd name="adj" fmla="val 16667"/>
            </a:avLst>
          </a:prstGeom>
          <a:solidFill>
            <a:srgbClr val="FF7E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Objective </a:t>
            </a:r>
            <a:endParaRPr sz="3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2325787" y="3674178"/>
            <a:ext cx="4492438" cy="1382650"/>
            <a:chOff x="2325787" y="3565503"/>
            <a:chExt cx="4492438" cy="1382650"/>
          </a:xfrm>
        </p:grpSpPr>
        <p:pic>
          <p:nvPicPr>
            <p:cNvPr id="67" name="Google Shape;6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25787" y="3565503"/>
              <a:ext cx="1382650" cy="138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80676" y="3565503"/>
              <a:ext cx="1382650" cy="138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35575" y="3565503"/>
              <a:ext cx="1382650" cy="138265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FF7E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025" y="539188"/>
            <a:ext cx="4065125" cy="40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>
            <a:off x="855300" y="867025"/>
            <a:ext cx="3856500" cy="66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3.5 Trillion USD </a:t>
            </a: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Global Restaurant Industry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baseline="30000">
                <a:latin typeface="Montserrat"/>
                <a:ea typeface="Montserrat"/>
                <a:cs typeface="Montserrat"/>
                <a:sym typeface="Montserrat"/>
              </a:rPr>
              <a:t>[1]</a:t>
            </a:r>
            <a:endParaRPr baseline="30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00" y="1004125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855300" y="1675525"/>
            <a:ext cx="3856500" cy="66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Labor Shortages</a:t>
            </a:r>
            <a:r>
              <a:rPr lang="en" baseline="30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[2]</a:t>
            </a: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Prime Target</a:t>
            </a: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for </a:t>
            </a:r>
            <a:r>
              <a:rPr lang="en" b="1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endParaRPr b="1" baseline="30000">
              <a:solidFill>
                <a:srgbClr val="FF7E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00" y="1812625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855300" y="2484025"/>
            <a:ext cx="3856500" cy="66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Opportunities to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b="1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Reduce Cost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b="1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Increase Profits</a:t>
            </a:r>
            <a:r>
              <a:rPr lang="en" baseline="30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[3]</a:t>
            </a:r>
            <a:endParaRPr baseline="30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00" y="2621125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855300" y="3292525"/>
            <a:ext cx="3856500" cy="66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Improved </a:t>
            </a:r>
            <a:r>
              <a:rPr lang="en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Customer Experience</a:t>
            </a:r>
            <a:r>
              <a:rPr lang="en" baseline="30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[4]</a:t>
            </a:r>
            <a:endParaRPr baseline="30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00" y="3429625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863662" y="4101025"/>
            <a:ext cx="3856500" cy="66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Ordering, Payment &amp; Serving are the </a:t>
            </a:r>
            <a:r>
              <a:rPr lang="en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Easiest</a:t>
            </a: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en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Most Beneficial</a:t>
            </a:r>
            <a:r>
              <a:rPr lang="en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to Automate</a:t>
            </a:r>
            <a:endParaRPr baseline="30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75" y="4238125"/>
            <a:ext cx="3936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FF7E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Project Deliverables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007600" y="10041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 &amp; Build a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Mobile Line Following Robot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is Able to Follow the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Shortest path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a Destination (tables) and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Avoid Collisions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98800" y="1124125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98800" y="2102850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98793" y="4071626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007600" y="29616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it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IoT Enabled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 it can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Send and Receive Data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and from Restaurant Staff</a:t>
            </a:r>
            <a:endParaRPr sz="2600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007600" y="3951625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Ensure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Ecosystem Integrability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Through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Software &amp; Hardware Design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well as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Industry Level Documentation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98804" y="3081601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007600" y="198285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it Capable of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Carrying Load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(Food &amp; Drinks) without Spilling Them Using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Interchangeable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Carrying Trays</a:t>
            </a:r>
            <a:endParaRPr sz="2600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FF7E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Additional Accomplishments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007600" y="10041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 An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Ecosystem of Apps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(Ordering, FoH Display, Remote Control)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Work Alongside the Robot as VAS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98800" y="1124125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98800" y="2102850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98793" y="4071626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007600" y="29616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Used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Cameras for Navigation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Instead of a Sensor Based Approach; Enabled Robot to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Map and Store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Restaurant Layout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007600" y="3951625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a cloud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Database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for Restaurants to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Digitize their Menus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Collect Valuable Trend Data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98804" y="3081601"/>
            <a:ext cx="656100" cy="591600"/>
          </a:xfrm>
          <a:prstGeom prst="ellipse">
            <a:avLst/>
          </a:prstGeom>
          <a:solidFill>
            <a:srgbClr val="FF7E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1007600" y="198285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Studied </a:t>
            </a:r>
            <a:r>
              <a:rPr lang="en" sz="2600" b="1" baseline="30000">
                <a:solidFill>
                  <a:srgbClr val="FF7E00"/>
                </a:solidFill>
                <a:latin typeface="Montserrat"/>
                <a:ea typeface="Montserrat"/>
                <a:cs typeface="Montserrat"/>
                <a:sym typeface="Montserrat"/>
              </a:rPr>
              <a:t>Velocity, Acceleration &amp; Braking Profiles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Ensure Robot Movement &amp; Trajectory is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Smooth and Safe</a:t>
            </a:r>
            <a:endParaRPr sz="2600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046" y="0"/>
            <a:ext cx="794411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FF7E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Representative Environment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31" name="Google Shape;131;p19" title="HLF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450" y="0"/>
            <a:ext cx="373911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94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Mechanical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Hardware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 Considerations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1007600" y="10041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Based off </a:t>
            </a:r>
            <a:r>
              <a:rPr lang="en" sz="2600" b="1" baseline="300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Existing Designs</a:t>
            </a:r>
            <a:endParaRPr sz="2600" b="1" baseline="300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198800" y="1124125"/>
            <a:ext cx="656100" cy="5916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198800" y="2102850"/>
            <a:ext cx="656100" cy="5916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198793" y="4071626"/>
            <a:ext cx="656100" cy="5916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007600" y="29616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baseline="300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Mechanical Simulations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ANSYS to Determine Materials &amp; Parameters for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Load Carrying or High Stress Parts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1007600" y="3951625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Modular Custom Parts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House Fabrication &amp; Assembly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198804" y="3081601"/>
            <a:ext cx="656100" cy="5916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1007600" y="1927026"/>
            <a:ext cx="8013600" cy="951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 Factors Include </a:t>
            </a:r>
            <a:r>
              <a:rPr lang="en" sz="2500" b="1" baseline="30000">
                <a:solidFill>
                  <a:srgbClr val="0B5394"/>
                </a:solidFill>
                <a:latin typeface="Montserrat"/>
                <a:ea typeface="Montserrat"/>
                <a:cs typeface="Montserrat"/>
                <a:sym typeface="Montserrat"/>
              </a:rPr>
              <a:t>Material availability, Safety, Cost, Strength/Load Carrying Capacity, Weight, Ease of Assembly and Aesthetics</a:t>
            </a:r>
            <a:endParaRPr sz="2500" b="1" baseline="300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Existing Designs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t="20445"/>
          <a:stretch/>
        </p:blipFill>
        <p:spPr>
          <a:xfrm>
            <a:off x="488175" y="1015510"/>
            <a:ext cx="8167649" cy="329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97" name="Google Shape;197;p27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Our Design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022" y="679800"/>
            <a:ext cx="5617956" cy="431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 Breakdown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5" name="Google Shape;215;p29" title="My Movie 3.gif"/>
          <p:cNvPicPr preferRelativeResize="0"/>
          <p:nvPr/>
        </p:nvPicPr>
        <p:blipFill rotWithShape="1">
          <a:blip r:embed="rId3">
            <a:alphaModFix/>
          </a:blip>
          <a:srcRect l="18019" r="14617"/>
          <a:stretch/>
        </p:blipFill>
        <p:spPr>
          <a:xfrm>
            <a:off x="1980163" y="664200"/>
            <a:ext cx="5183675" cy="433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221" name="Google Shape;221;p30"/>
          <p:cNvPicPr preferRelativeResize="0"/>
          <p:nvPr/>
        </p:nvPicPr>
        <p:blipFill rotWithShape="1">
          <a:blip r:embed="rId3">
            <a:alphaModFix/>
          </a:blip>
          <a:srcRect l="7779" r="9109"/>
          <a:stretch/>
        </p:blipFill>
        <p:spPr>
          <a:xfrm>
            <a:off x="0" y="0"/>
            <a:ext cx="2302099" cy="202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0"/>
          <p:cNvPicPr preferRelativeResize="0"/>
          <p:nvPr/>
        </p:nvPicPr>
        <p:blipFill rotWithShape="1">
          <a:blip r:embed="rId4">
            <a:alphaModFix/>
          </a:blip>
          <a:srcRect l="3630" r="4919"/>
          <a:stretch/>
        </p:blipFill>
        <p:spPr>
          <a:xfrm>
            <a:off x="2382462" y="26075"/>
            <a:ext cx="2302100" cy="197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0"/>
          <p:cNvPicPr preferRelativeResize="0"/>
          <p:nvPr/>
        </p:nvPicPr>
        <p:blipFill rotWithShape="1">
          <a:blip r:embed="rId5">
            <a:alphaModFix/>
          </a:blip>
          <a:srcRect l="9459" r="8566"/>
          <a:stretch/>
        </p:blipFill>
        <p:spPr>
          <a:xfrm>
            <a:off x="4764925" y="26075"/>
            <a:ext cx="2302099" cy="19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/>
          <p:cNvPicPr preferRelativeResize="0"/>
          <p:nvPr/>
        </p:nvPicPr>
        <p:blipFill rotWithShape="1">
          <a:blip r:embed="rId6">
            <a:alphaModFix/>
          </a:blip>
          <a:srcRect l="5205" r="5508"/>
          <a:stretch/>
        </p:blipFill>
        <p:spPr>
          <a:xfrm>
            <a:off x="7067025" y="139175"/>
            <a:ext cx="1990799" cy="174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0"/>
          <p:cNvPicPr preferRelativeResize="0"/>
          <p:nvPr/>
        </p:nvPicPr>
        <p:blipFill rotWithShape="1">
          <a:blip r:embed="rId7">
            <a:alphaModFix/>
          </a:blip>
          <a:srcRect l="9767" r="8839"/>
          <a:stretch/>
        </p:blipFill>
        <p:spPr>
          <a:xfrm>
            <a:off x="90050" y="2448577"/>
            <a:ext cx="2551350" cy="220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 rotWithShape="1">
          <a:blip r:embed="rId8">
            <a:alphaModFix/>
          </a:blip>
          <a:srcRect l="12952" t="3194" r="15568"/>
          <a:stretch/>
        </p:blipFill>
        <p:spPr>
          <a:xfrm>
            <a:off x="2778762" y="2187409"/>
            <a:ext cx="1758750" cy="272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0"/>
          <p:cNvPicPr preferRelativeResize="0"/>
          <p:nvPr/>
        </p:nvPicPr>
        <p:blipFill rotWithShape="1">
          <a:blip r:embed="rId9">
            <a:alphaModFix/>
          </a:blip>
          <a:srcRect l="17634" r="12249"/>
          <a:stretch/>
        </p:blipFill>
        <p:spPr>
          <a:xfrm>
            <a:off x="4958725" y="2025177"/>
            <a:ext cx="1914497" cy="304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0"/>
          <p:cNvPicPr preferRelativeResize="0"/>
          <p:nvPr/>
        </p:nvPicPr>
        <p:blipFill rotWithShape="1">
          <a:blip r:embed="rId10">
            <a:alphaModFix/>
          </a:blip>
          <a:srcRect l="8187" r="6619"/>
          <a:stretch/>
        </p:blipFill>
        <p:spPr>
          <a:xfrm>
            <a:off x="7047150" y="1963706"/>
            <a:ext cx="2030550" cy="3172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35" name="Google Shape;235;p31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Frame and Baseplate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00" y="1011952"/>
            <a:ext cx="4405825" cy="31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050" y="1067005"/>
            <a:ext cx="4217550" cy="304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2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Frame and Baseplate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5" name="Google Shape;245;p32"/>
          <p:cNvPicPr preferRelativeResize="0"/>
          <p:nvPr/>
        </p:nvPicPr>
        <p:blipFill rotWithShape="1">
          <a:blip r:embed="rId3">
            <a:alphaModFix/>
          </a:blip>
          <a:srcRect t="31224"/>
          <a:stretch/>
        </p:blipFill>
        <p:spPr>
          <a:xfrm>
            <a:off x="117300" y="1152725"/>
            <a:ext cx="5212126" cy="268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7350" y="1152725"/>
            <a:ext cx="3584680" cy="2688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92" name="Google Shape;292;p38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8"/>
          <p:cNvSpPr/>
          <p:nvPr/>
        </p:nvSpPr>
        <p:spPr>
          <a:xfrm>
            <a:off x="117300" y="0"/>
            <a:ext cx="56655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Couplers and Wheels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38"/>
          <p:cNvPicPr preferRelativeResize="0"/>
          <p:nvPr/>
        </p:nvPicPr>
        <p:blipFill rotWithShape="1">
          <a:blip r:embed="rId3">
            <a:alphaModFix/>
          </a:blip>
          <a:srcRect b="38578"/>
          <a:stretch/>
        </p:blipFill>
        <p:spPr>
          <a:xfrm>
            <a:off x="5189500" y="860298"/>
            <a:ext cx="3177349" cy="347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150" y="836150"/>
            <a:ext cx="4216771" cy="3519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01" name="Google Shape;301;p39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9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Coupler Deformation 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3" name="Google Shape;3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85" y="679800"/>
            <a:ext cx="8608831" cy="3831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17" name="Google Shape;317;p41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1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Coupler Stress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9" name="Google Shape;31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51" y="679800"/>
            <a:ext cx="8591297" cy="3831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65" name="Google Shape;365;p47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47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Load Trays 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7" name="Google Shape;36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145"/>
            <a:ext cx="8839200" cy="2713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381" name="Google Shape;381;p49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9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Load Trays Deformation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3" name="Google Shape;38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78" y="832200"/>
            <a:ext cx="8395243" cy="3831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397" name="Google Shape;397;p51"/>
          <p:cNvSpPr txBox="1"/>
          <p:nvPr/>
        </p:nvSpPr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Electrical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Hardware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404" name="Google Shape;404;p52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Electrical Design Highlights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52"/>
          <p:cNvSpPr/>
          <p:nvPr/>
        </p:nvSpPr>
        <p:spPr>
          <a:xfrm>
            <a:off x="1007600" y="10041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Electronics are Mostly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off the Shelf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Components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" sz="2600" b="1" baseline="30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Easy access and Replacement</a:t>
            </a:r>
            <a:endParaRPr sz="2600" b="1" baseline="300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52"/>
          <p:cNvSpPr/>
          <p:nvPr/>
        </p:nvSpPr>
        <p:spPr>
          <a:xfrm>
            <a:off x="198800" y="1124125"/>
            <a:ext cx="656100" cy="5916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52"/>
          <p:cNvSpPr/>
          <p:nvPr/>
        </p:nvSpPr>
        <p:spPr>
          <a:xfrm>
            <a:off x="198800" y="2102850"/>
            <a:ext cx="656100" cy="5916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52"/>
          <p:cNvSpPr/>
          <p:nvPr/>
        </p:nvSpPr>
        <p:spPr>
          <a:xfrm>
            <a:off x="198793" y="4071626"/>
            <a:ext cx="656100" cy="5916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52"/>
          <p:cNvSpPr/>
          <p:nvPr/>
        </p:nvSpPr>
        <p:spPr>
          <a:xfrm>
            <a:off x="1007600" y="29616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baseline="30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Electrical Safety, Redundancy &amp; Modularity Ensured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52"/>
          <p:cNvSpPr/>
          <p:nvPr/>
        </p:nvSpPr>
        <p:spPr>
          <a:xfrm>
            <a:off x="1007600" y="3951625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Dual Batteries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lang="en" sz="2600" b="1" baseline="30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Built-in Charger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Charge Indicator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52"/>
          <p:cNvSpPr/>
          <p:nvPr/>
        </p:nvSpPr>
        <p:spPr>
          <a:xfrm>
            <a:off x="198804" y="3081601"/>
            <a:ext cx="656100" cy="5916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52"/>
          <p:cNvSpPr/>
          <p:nvPr/>
        </p:nvSpPr>
        <p:spPr>
          <a:xfrm>
            <a:off x="1007600" y="1927026"/>
            <a:ext cx="8013600" cy="951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baseline="30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Selection &amp; Acquisition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Electrical Hardware was done on the Basis of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Mechanical Requirements</a:t>
            </a:r>
            <a:endParaRPr sz="2500" b="1" baseline="30000">
              <a:solidFill>
                <a:srgbClr val="0B53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19" name="Google Shape;419;p53"/>
          <p:cNvSpPr/>
          <p:nvPr/>
        </p:nvSpPr>
        <p:spPr>
          <a:xfrm>
            <a:off x="117300" y="0"/>
            <a:ext cx="22350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Wiring Layout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0" name="Google Shape;420;p53"/>
          <p:cNvPicPr preferRelativeResize="0"/>
          <p:nvPr/>
        </p:nvPicPr>
        <p:blipFill rotWithShape="1">
          <a:blip r:embed="rId3">
            <a:alphaModFix/>
          </a:blip>
          <a:srcRect l="1602" r="5244" b="9338"/>
          <a:stretch/>
        </p:blipFill>
        <p:spPr>
          <a:xfrm>
            <a:off x="2598154" y="0"/>
            <a:ext cx="39476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27" name="Google Shape;427;p54"/>
          <p:cNvSpPr/>
          <p:nvPr/>
        </p:nvSpPr>
        <p:spPr>
          <a:xfrm>
            <a:off x="117300" y="0"/>
            <a:ext cx="33042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Connections Layout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8" name="Google Shape;428;p54"/>
          <p:cNvPicPr preferRelativeResize="0"/>
          <p:nvPr/>
        </p:nvPicPr>
        <p:blipFill rotWithShape="1">
          <a:blip r:embed="rId3">
            <a:alphaModFix/>
          </a:blip>
          <a:srcRect b="3512"/>
          <a:stretch/>
        </p:blipFill>
        <p:spPr>
          <a:xfrm>
            <a:off x="1589497" y="581901"/>
            <a:ext cx="5965006" cy="447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435" name="Google Shape;435;p55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Motors and Drivers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6" name="Google Shape;4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94" y="787831"/>
            <a:ext cx="5409576" cy="245816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7" name="Google Shape;437;p55"/>
          <p:cNvGraphicFramePr/>
          <p:nvPr/>
        </p:nvGraphicFramePr>
        <p:xfrm>
          <a:off x="853088" y="3573900"/>
          <a:ext cx="7437800" cy="1181438"/>
        </p:xfrm>
        <a:graphic>
          <a:graphicData uri="http://schemas.openxmlformats.org/drawingml/2006/table">
            <a:tbl>
              <a:tblPr>
                <a:noFill/>
                <a:tableStyleId>{57C59D4F-15B1-44D4-854B-5059704C9966}</a:tableStyleId>
              </a:tblPr>
              <a:tblGrid>
                <a:gridCol w="9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4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9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4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362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Reduction Ratio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Load Ratings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Loaded Ratings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Stall Ratings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Speed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Speed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Torque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Power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Torque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71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12 V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112 RPM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0.45 A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90 RPM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1.8 A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10 kg cm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21.6 W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33 kg cm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5 A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38" name="Google Shape;43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80" y="623988"/>
            <a:ext cx="2801525" cy="27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445" name="Google Shape;445;p56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Batteries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46" name="Google Shape;446;p56"/>
          <p:cNvGraphicFramePr/>
          <p:nvPr/>
        </p:nvGraphicFramePr>
        <p:xfrm>
          <a:off x="2269775" y="3796125"/>
          <a:ext cx="4604450" cy="999938"/>
        </p:xfrm>
        <a:graphic>
          <a:graphicData uri="http://schemas.openxmlformats.org/drawingml/2006/table">
            <a:tbl>
              <a:tblPr>
                <a:noFill/>
                <a:tableStyleId>{57C59D4F-15B1-44D4-854B-5059704C9966}</a:tableStyleId>
              </a:tblPr>
              <a:tblGrid>
                <a:gridCol w="96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Capacity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Max Current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Battery Timing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Charge Time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12 V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28 + 3 Ah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20A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6-10 Hours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4 Hours</a:t>
                      </a:r>
                      <a:endParaRPr sz="10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47" name="Google Shape;44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967" y="667950"/>
            <a:ext cx="3266066" cy="3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454" name="Google Shape;454;p57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Controller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55" name="Google Shape;455;p57"/>
          <p:cNvGraphicFramePr/>
          <p:nvPr/>
        </p:nvGraphicFramePr>
        <p:xfrm>
          <a:off x="120150" y="3270899"/>
          <a:ext cx="8903700" cy="1178373"/>
        </p:xfrm>
        <a:graphic>
          <a:graphicData uri="http://schemas.openxmlformats.org/drawingml/2006/table">
            <a:tbl>
              <a:tblPr>
                <a:noFill/>
                <a:tableStyleId>{92FF51AE-253E-4EA6-B05D-D43B1A970DB9}</a:tableStyleId>
              </a:tblPr>
              <a:tblGrid>
                <a:gridCol w="7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6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9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49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4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Controller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Clock Speed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GPIO Pins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Analog Inputs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PWM Pins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UART / I2C / SPI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Wi-Fi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Bluetooth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Flash Memory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RAM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USB Interface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(Approx.)</a:t>
                      </a:r>
                      <a:endParaRPr sz="8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Dual-core Tensilica LX6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Up to 240 MHz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3.3V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34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18 (12-bit ADC)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Most GPIOs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 / 2 / 4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Yes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Yes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4MB (external)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~520KB SRAM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Micro USB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$5–10</a:t>
                      </a:r>
                      <a:endParaRPr sz="8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6" name="Google Shape;45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775" y="727449"/>
            <a:ext cx="2964450" cy="2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aphicFrame>
        <p:nvGraphicFramePr>
          <p:cNvPr id="462" name="Google Shape;462;p58"/>
          <p:cNvGraphicFramePr/>
          <p:nvPr/>
        </p:nvGraphicFramePr>
        <p:xfrm>
          <a:off x="828400" y="77363"/>
          <a:ext cx="7487200" cy="4769446"/>
        </p:xfrm>
        <a:graphic>
          <a:graphicData uri="http://schemas.openxmlformats.org/drawingml/2006/table">
            <a:tbl>
              <a:tblPr>
                <a:noFill/>
                <a:tableStyleId>{57C59D4F-15B1-44D4-854B-5059704C9966}</a:tableStyleId>
              </a:tblPr>
              <a:tblGrid>
                <a:gridCol w="156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ESP32 NodeMCU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Arduino Uno 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Arduino Mega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RPi Pico 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Microcontroller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Dual-core Tensilica LX6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ATmega328P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ATmega2560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Dual-core ARM Cortex-M0+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Clock Speed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 to 240 MHz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16 MHz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16 MHz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133 MHz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3.3V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5V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5V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3.3V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GPIO Pins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14 (6 PWM)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54 (15 PWM)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26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Analog Inputs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 (12-bit ADC)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6 (10-bit ADC)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16 (10-bit ADC)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 (12-bit ADC)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PWM Pins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Most GPIOs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6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15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All GPIOs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UART / I2C / SPI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/ 2 / 4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 / 1 / 1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4 / 1 / 1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 / 2 / 2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Wi-Fi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No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No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No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Bluetooth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No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No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No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Flash Memory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4MB (external)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32KB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256KB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2MB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RAM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~520KB SRAM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2KB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8KB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264KB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USB Interface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Micro USB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USB-B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USB-B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Micro USB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(Approx.)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$5–10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$10–20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$25–35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$4–8</a:t>
                      </a:r>
                      <a:endParaRPr sz="90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469" name="Google Shape;469;p59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Camera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0" name="Google Shape;470;p59"/>
          <p:cNvGraphicFramePr/>
          <p:nvPr/>
        </p:nvGraphicFramePr>
        <p:xfrm>
          <a:off x="800925" y="3552272"/>
          <a:ext cx="7542150" cy="1122176"/>
        </p:xfrm>
        <a:graphic>
          <a:graphicData uri="http://schemas.openxmlformats.org/drawingml/2006/table">
            <a:tbl>
              <a:tblPr>
                <a:noFill/>
                <a:tableStyleId>{92FF51AE-253E-4EA6-B05D-D43B1A970DB9}</a:tableStyleId>
              </a:tblPr>
              <a:tblGrid>
                <a:gridCol w="140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7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Depth Sensing Range</a:t>
                      </a:r>
                      <a:endParaRPr sz="9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Depth Resolution</a:t>
                      </a:r>
                      <a:endParaRPr sz="9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RGB Resolution</a:t>
                      </a:r>
                      <a:endParaRPr sz="9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FoV</a:t>
                      </a:r>
                      <a:endParaRPr sz="9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Operating Systems</a:t>
                      </a:r>
                      <a:endParaRPr sz="9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SDK Support</a:t>
                      </a:r>
                      <a:endParaRPr sz="900"/>
                    </a:p>
                  </a:txBody>
                  <a:tcPr marL="91425" marR="91425" marT="91425" marB="91425">
                    <a:solidFill>
                      <a:srgbClr val="387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0.6 to 8 meters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640×480 at 30 FPS</a:t>
                      </a:r>
                      <a:endParaRPr sz="9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1280×720 at 30 FPS</a:t>
                      </a:r>
                      <a:endParaRPr sz="9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60° horizontal × 49.5° vertical × 73° diagonal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Windows, Linux, Android</a:t>
                      </a:r>
                      <a:endParaRPr sz="9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OpenNI, Astra SDK, ROS.</a:t>
                      </a:r>
                      <a:endParaRPr sz="9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71" name="Google Shape;4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736" y="820488"/>
            <a:ext cx="4562529" cy="24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4EA7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477" name="Google Shape;477;p60"/>
          <p:cNvSpPr txBox="1"/>
          <p:nvPr/>
        </p:nvSpPr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Ecosystem Applications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1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61"/>
          <p:cNvSpPr txBox="1">
            <a:spLocks noGrp="1"/>
          </p:cNvSpPr>
          <p:nvPr>
            <p:ph type="sldNum" idx="12"/>
          </p:nvPr>
        </p:nvSpPr>
        <p:spPr>
          <a:xfrm>
            <a:off x="8472458" y="426929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484" name="Google Shape;484;p61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Ecosystem Highlights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61"/>
          <p:cNvSpPr/>
          <p:nvPr/>
        </p:nvSpPr>
        <p:spPr>
          <a:xfrm>
            <a:off x="1007600" y="610175"/>
            <a:ext cx="8013600" cy="74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System of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Supporting Flutter Apps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Built around the Robot to act as </a:t>
            </a:r>
            <a:r>
              <a:rPr lang="en" sz="2600" b="1" baseline="30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VaS</a:t>
            </a:r>
            <a:endParaRPr sz="2600" b="1" baseline="30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61"/>
          <p:cNvSpPr/>
          <p:nvPr/>
        </p:nvSpPr>
        <p:spPr>
          <a:xfrm>
            <a:off x="198800" y="698961"/>
            <a:ext cx="656100" cy="528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61"/>
          <p:cNvSpPr/>
          <p:nvPr/>
        </p:nvSpPr>
        <p:spPr>
          <a:xfrm>
            <a:off x="198803" y="1591148"/>
            <a:ext cx="656100" cy="528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61"/>
          <p:cNvSpPr/>
          <p:nvPr/>
        </p:nvSpPr>
        <p:spPr>
          <a:xfrm>
            <a:off x="198805" y="3412259"/>
            <a:ext cx="656100" cy="528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61"/>
          <p:cNvSpPr/>
          <p:nvPr/>
        </p:nvSpPr>
        <p:spPr>
          <a:xfrm>
            <a:off x="1007600" y="2409552"/>
            <a:ext cx="8013600" cy="74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" sz="2600" b="1" baseline="30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Dashboard App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Installed in the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Kitchen and Cashier Stations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; Allows for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tracking of Orders and their Updating their Statuses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61"/>
          <p:cNvSpPr/>
          <p:nvPr/>
        </p:nvSpPr>
        <p:spPr>
          <a:xfrm>
            <a:off x="1007601" y="3308708"/>
            <a:ext cx="8013600" cy="74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" sz="2600" b="1" baseline="30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Remote Control App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Allows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Manual Control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Over the Robot from a  Device by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Authorized Users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61"/>
          <p:cNvSpPr/>
          <p:nvPr/>
        </p:nvSpPr>
        <p:spPr>
          <a:xfrm>
            <a:off x="198808" y="2501708"/>
            <a:ext cx="656100" cy="528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61"/>
          <p:cNvSpPr/>
          <p:nvPr/>
        </p:nvSpPr>
        <p:spPr>
          <a:xfrm>
            <a:off x="1007601" y="1509870"/>
            <a:ext cx="8013600" cy="74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</a:t>
            </a:r>
            <a:r>
              <a:rPr lang="en" sz="2600" b="1" baseline="30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 Ordering App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Can be Installed</a:t>
            </a:r>
            <a:r>
              <a:rPr lang="en" sz="2600" b="1" baseline="30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" sz="2600" b="1" baseline="30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Customers’ Phones, Tablets or Used Directly from the Robot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61"/>
          <p:cNvSpPr/>
          <p:nvPr/>
        </p:nvSpPr>
        <p:spPr>
          <a:xfrm>
            <a:off x="1007600" y="4207875"/>
            <a:ext cx="8013600" cy="74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Databases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Allow Restaurants to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Digitize their Menus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Collect Valuable Customer Data &amp; Trends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61"/>
          <p:cNvSpPr/>
          <p:nvPr/>
        </p:nvSpPr>
        <p:spPr>
          <a:xfrm>
            <a:off x="198811" y="4359521"/>
            <a:ext cx="656100" cy="528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62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Ordering App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1" name="Google Shape;50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49" y="634975"/>
            <a:ext cx="7790302" cy="43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63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Ordering App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8" name="Google Shape;508;p63" title="Ordering Ap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250" y="627525"/>
            <a:ext cx="2009350" cy="44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4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64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Dashboard App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5" name="Google Shape;51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45" y="679800"/>
            <a:ext cx="8357711" cy="43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5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65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Dashboard App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2" name="Google Shape;522;p65" title="Dashboard Ap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763" y="679800"/>
            <a:ext cx="8062474" cy="431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6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66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Remote Control App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9" name="Google Shape;52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699" y="679800"/>
            <a:ext cx="8044602" cy="43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7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67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Remote Control App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6" name="Google Shape;53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75" y="1090613"/>
            <a:ext cx="74866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7"/>
          <p:cNvSpPr/>
          <p:nvPr/>
        </p:nvSpPr>
        <p:spPr>
          <a:xfrm>
            <a:off x="4572000" y="1602400"/>
            <a:ext cx="3743400" cy="2450400"/>
          </a:xfrm>
          <a:prstGeom prst="rect">
            <a:avLst/>
          </a:prstGeom>
          <a:solidFill>
            <a:srgbClr val="7955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67"/>
          <p:cNvSpPr txBox="1"/>
          <p:nvPr/>
        </p:nvSpPr>
        <p:spPr>
          <a:xfrm>
            <a:off x="5219100" y="2401522"/>
            <a:ext cx="2449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Webcam Feed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8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68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RC App Video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68"/>
          <p:cNvSpPr txBox="1"/>
          <p:nvPr/>
        </p:nvSpPr>
        <p:spPr>
          <a:xfrm>
            <a:off x="5219100" y="2401522"/>
            <a:ext cx="24492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Webcam Feed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6" name="Google Shape;546;p68" title="RC Ap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638" y="774212"/>
            <a:ext cx="7646724" cy="407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552" name="Google Shape;552;p69"/>
          <p:cNvSpPr txBox="1"/>
          <p:nvPr/>
        </p:nvSpPr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Simulations &amp; Navigation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0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559" name="Google Shape;559;p70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URDF &amp; Kinematics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70"/>
          <p:cNvSpPr/>
          <p:nvPr/>
        </p:nvSpPr>
        <p:spPr>
          <a:xfrm>
            <a:off x="969600" y="11772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URDF Files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CAD Model, Calculated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Forward &amp; Inverse Kinematics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Robot 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70"/>
          <p:cNvSpPr/>
          <p:nvPr/>
        </p:nvSpPr>
        <p:spPr>
          <a:xfrm>
            <a:off x="160800" y="1297225"/>
            <a:ext cx="656100" cy="591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160800" y="2275950"/>
            <a:ext cx="656100" cy="591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70"/>
          <p:cNvSpPr/>
          <p:nvPr/>
        </p:nvSpPr>
        <p:spPr>
          <a:xfrm>
            <a:off x="969600" y="31347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Simulation First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Approach Allowed for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Easy Debugging and Testing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Before Robot was Even Assembled</a:t>
            </a:r>
            <a:endParaRPr sz="2600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70"/>
          <p:cNvSpPr/>
          <p:nvPr/>
        </p:nvSpPr>
        <p:spPr>
          <a:xfrm>
            <a:off x="160804" y="3254701"/>
            <a:ext cx="656100" cy="591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70"/>
          <p:cNvSpPr/>
          <p:nvPr/>
        </p:nvSpPr>
        <p:spPr>
          <a:xfrm>
            <a:off x="969600" y="215595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Simulated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integrated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Robot, Environment and Cameras in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Gazebo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Using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ROS2</a:t>
            </a:r>
            <a:r>
              <a:rPr lang="en" sz="2600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the Kinematics</a:t>
            </a:r>
            <a:r>
              <a:rPr lang="en" sz="2600" b="1" baseline="300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600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571" name="Google Shape;571;p71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71"/>
          <p:cNvSpPr/>
          <p:nvPr/>
        </p:nvSpPr>
        <p:spPr>
          <a:xfrm>
            <a:off x="117300" y="0"/>
            <a:ext cx="59685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Robot Model Using URDF &amp; Kinematics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3" name="Google Shape;573;p71"/>
          <p:cNvPicPr preferRelativeResize="0"/>
          <p:nvPr/>
        </p:nvPicPr>
        <p:blipFill rotWithShape="1">
          <a:blip r:embed="rId3">
            <a:alphaModFix/>
          </a:blip>
          <a:srcRect l="11204" r="18982"/>
          <a:stretch/>
        </p:blipFill>
        <p:spPr>
          <a:xfrm>
            <a:off x="117300" y="623450"/>
            <a:ext cx="4106250" cy="42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949" y="623450"/>
            <a:ext cx="4550784" cy="420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580" name="Google Shape;580;p72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72"/>
          <p:cNvSpPr/>
          <p:nvPr/>
        </p:nvSpPr>
        <p:spPr>
          <a:xfrm>
            <a:off x="117300" y="0"/>
            <a:ext cx="46875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Modeling the Environment 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2" name="Google Shape;582;p72"/>
          <p:cNvPicPr preferRelativeResize="0"/>
          <p:nvPr/>
        </p:nvPicPr>
        <p:blipFill rotWithShape="1">
          <a:blip r:embed="rId3">
            <a:alphaModFix/>
          </a:blip>
          <a:srcRect l="10738" r="22518"/>
          <a:stretch/>
        </p:blipFill>
        <p:spPr>
          <a:xfrm>
            <a:off x="52575" y="908900"/>
            <a:ext cx="3927300" cy="3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72"/>
          <p:cNvPicPr preferRelativeResize="0"/>
          <p:nvPr/>
        </p:nvPicPr>
        <p:blipFill rotWithShape="1">
          <a:blip r:embed="rId4">
            <a:alphaModFix/>
          </a:blip>
          <a:srcRect l="26954" t="13920" r="22323" b="22430"/>
          <a:stretch/>
        </p:blipFill>
        <p:spPr>
          <a:xfrm>
            <a:off x="3979875" y="908900"/>
            <a:ext cx="5164125" cy="36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589" name="Google Shape;589;p73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73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Velocity Profiles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1" name="Google Shape;5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949" y="629081"/>
            <a:ext cx="6954107" cy="4311297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597" name="Google Shape;597;p74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74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URDF Code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9" name="Google Shape;59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6403" y="559125"/>
            <a:ext cx="4951193" cy="44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sp>
        <p:nvSpPr>
          <p:cNvPr id="605" name="Google Shape;605;p75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75"/>
          <p:cNvSpPr/>
          <p:nvPr/>
        </p:nvSpPr>
        <p:spPr>
          <a:xfrm>
            <a:off x="117300" y="0"/>
            <a:ext cx="45108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Kinematics Code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7" name="Google Shape;60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435" y="668450"/>
            <a:ext cx="5367129" cy="431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6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614" name="Google Shape;614;p76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Navigation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76"/>
          <p:cNvSpPr/>
          <p:nvPr/>
        </p:nvSpPr>
        <p:spPr>
          <a:xfrm>
            <a:off x="1007600" y="10041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a Robust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Line Identification and Tracking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Algorithm Using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OpenCV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p76"/>
          <p:cNvSpPr/>
          <p:nvPr/>
        </p:nvSpPr>
        <p:spPr>
          <a:xfrm>
            <a:off x="198800" y="1124125"/>
            <a:ext cx="656100" cy="591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76"/>
          <p:cNvSpPr/>
          <p:nvPr/>
        </p:nvSpPr>
        <p:spPr>
          <a:xfrm>
            <a:off x="198800" y="2102850"/>
            <a:ext cx="656100" cy="591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8" name="Google Shape;618;p76"/>
          <p:cNvSpPr/>
          <p:nvPr/>
        </p:nvSpPr>
        <p:spPr>
          <a:xfrm>
            <a:off x="198793" y="4071626"/>
            <a:ext cx="656100" cy="591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76"/>
          <p:cNvSpPr/>
          <p:nvPr/>
        </p:nvSpPr>
        <p:spPr>
          <a:xfrm>
            <a:off x="1007600" y="2967238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a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Mapping and Path Planning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Algorithm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0" name="Google Shape;620;p76"/>
          <p:cNvSpPr/>
          <p:nvPr/>
        </p:nvSpPr>
        <p:spPr>
          <a:xfrm>
            <a:off x="1007600" y="3951625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Used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Depth Camera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Detect Obstacles and Avoid Collisions</a:t>
            </a:r>
            <a:endParaRPr sz="2600" b="1" baseline="300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76"/>
          <p:cNvSpPr/>
          <p:nvPr/>
        </p:nvSpPr>
        <p:spPr>
          <a:xfrm>
            <a:off x="198804" y="3081601"/>
            <a:ext cx="656100" cy="591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76"/>
          <p:cNvSpPr/>
          <p:nvPr/>
        </p:nvSpPr>
        <p:spPr>
          <a:xfrm>
            <a:off x="1007600" y="198285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Performed </a:t>
            </a:r>
            <a:r>
              <a:rPr lang="en" sz="2600" b="1" baseline="30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Junction Classification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Using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ArUco Markers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7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629" name="Google Shape;629;p77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 Following Algorithm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0" name="Google Shape;63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25" y="1253250"/>
            <a:ext cx="3899301" cy="292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411" y="1253244"/>
            <a:ext cx="2438975" cy="243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8203" y="1698450"/>
            <a:ext cx="19050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8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sp>
        <p:nvSpPr>
          <p:cNvPr id="639" name="Google Shape;639;p78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Junction Classification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0" name="Google Shape;64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3589" y="1744894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1690" y="1787593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9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sp>
        <p:nvSpPr>
          <p:cNvPr id="648" name="Google Shape;648;p79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Mapping &amp; Path Planning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9" name="Google Shape;64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6870" y="1646546"/>
            <a:ext cx="19050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6879" y="214485"/>
            <a:ext cx="19050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6876" y="3078633"/>
            <a:ext cx="19050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062" y="1405110"/>
            <a:ext cx="5364574" cy="27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1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sp>
        <p:nvSpPr>
          <p:cNvPr id="666" name="Google Shape;666;p81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Collision Avoidance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7" name="Google Shape;66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727" y="679800"/>
            <a:ext cx="5740547" cy="43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sp>
        <p:nvSpPr>
          <p:cNvPr id="673" name="Google Shape;673;p82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82"/>
          <p:cNvSpPr/>
          <p:nvPr/>
        </p:nvSpPr>
        <p:spPr>
          <a:xfrm>
            <a:off x="117300" y="0"/>
            <a:ext cx="51030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Line Identification 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5" name="Google Shape;67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00" y="1112651"/>
            <a:ext cx="4734150" cy="355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8159" y="2028040"/>
            <a:ext cx="3028750" cy="30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1450" y="81002"/>
            <a:ext cx="3028750" cy="1947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683" name="Google Shape;683;p83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83"/>
          <p:cNvSpPr/>
          <p:nvPr/>
        </p:nvSpPr>
        <p:spPr>
          <a:xfrm>
            <a:off x="117300" y="0"/>
            <a:ext cx="51030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Junction Identification 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5" name="Google Shape;68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700" y="1529327"/>
            <a:ext cx="3598050" cy="231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1623" y="1502724"/>
            <a:ext cx="3680825" cy="236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sp>
        <p:nvSpPr>
          <p:cNvPr id="692" name="Google Shape;692;p84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84"/>
          <p:cNvSpPr/>
          <p:nvPr/>
        </p:nvSpPr>
        <p:spPr>
          <a:xfrm>
            <a:off x="117300" y="0"/>
            <a:ext cx="51030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Line Map 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4" name="Google Shape;69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796" y="608904"/>
            <a:ext cx="5748400" cy="43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1B47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  <p:sp>
        <p:nvSpPr>
          <p:cNvPr id="700" name="Google Shape;700;p85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&amp; 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Conclusions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6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741B4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sp>
        <p:nvSpPr>
          <p:cNvPr id="707" name="Google Shape;707;p86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Testing Results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08" name="Google Shape;708;p86"/>
          <p:cNvGraphicFramePr/>
          <p:nvPr/>
        </p:nvGraphicFramePr>
        <p:xfrm>
          <a:off x="1010313" y="809025"/>
          <a:ext cx="7123350" cy="3979434"/>
        </p:xfrm>
        <a:graphic>
          <a:graphicData uri="http://schemas.openxmlformats.org/drawingml/2006/table">
            <a:tbl>
              <a:tblPr>
                <a:noFill/>
                <a:tableStyleId>{57C59D4F-15B1-44D4-854B-5059704C9966}</a:tableStyleId>
              </a:tblPr>
              <a:tblGrid>
                <a:gridCol w="118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665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of Tests in Final Configuration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1B4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Successful Runs (Navigated &amp; Delivered)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1B4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Partial Failures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1B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Failed Runs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1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Navigated but did not deliver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1B4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Delivered but did not navigate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1B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With Only Food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With Only Drinks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With Food &amp; Drinks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7B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 (93.33%)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7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741B4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  <p:sp>
        <p:nvSpPr>
          <p:cNvPr id="715" name="Google Shape;715;p87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6" name="Google Shape;716;p87"/>
          <p:cNvSpPr/>
          <p:nvPr/>
        </p:nvSpPr>
        <p:spPr>
          <a:xfrm>
            <a:off x="1007600" y="10041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Scope Constraints;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Lack of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 Testing Environment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Dependance On Structured Environment 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7" name="Google Shape;717;p87"/>
          <p:cNvSpPr/>
          <p:nvPr/>
        </p:nvSpPr>
        <p:spPr>
          <a:xfrm>
            <a:off x="198800" y="1124125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87"/>
          <p:cNvSpPr/>
          <p:nvPr/>
        </p:nvSpPr>
        <p:spPr>
          <a:xfrm>
            <a:off x="198800" y="2102850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87"/>
          <p:cNvSpPr/>
          <p:nvPr/>
        </p:nvSpPr>
        <p:spPr>
          <a:xfrm>
            <a:off x="198793" y="4071626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87"/>
          <p:cNvSpPr/>
          <p:nvPr/>
        </p:nvSpPr>
        <p:spPr>
          <a:xfrm>
            <a:off x="1007600" y="2967238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Hesitation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Testing &amp; Adoption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Especially by Local Restaurant Owners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1" name="Google Shape;721;p87"/>
          <p:cNvSpPr/>
          <p:nvPr/>
        </p:nvSpPr>
        <p:spPr>
          <a:xfrm>
            <a:off x="1007600" y="3951625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Lack of </a:t>
            </a:r>
            <a:r>
              <a:rPr lang="en" sz="2600" b="1" baseline="300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Long Term Performance Data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(Customer Trends, Battery Data, Wear &amp; Tear Data)</a:t>
            </a:r>
            <a:endParaRPr sz="2600" b="1" baseline="300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2" name="Google Shape;722;p87"/>
          <p:cNvSpPr/>
          <p:nvPr/>
        </p:nvSpPr>
        <p:spPr>
          <a:xfrm>
            <a:off x="198804" y="3081601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87"/>
          <p:cNvSpPr/>
          <p:nvPr/>
        </p:nvSpPr>
        <p:spPr>
          <a:xfrm>
            <a:off x="1007600" y="198285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Component Availability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Cost Issues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Delivery Issues from Foreign Suppliers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88"/>
          <p:cNvSpPr/>
          <p:nvPr/>
        </p:nvSpPr>
        <p:spPr>
          <a:xfrm>
            <a:off x="0" y="0"/>
            <a:ext cx="117300" cy="527400"/>
          </a:xfrm>
          <a:prstGeom prst="rect">
            <a:avLst/>
          </a:prstGeom>
          <a:solidFill>
            <a:srgbClr val="741B4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sp>
        <p:nvSpPr>
          <p:cNvPr id="730" name="Google Shape;730;p88"/>
          <p:cNvSpPr/>
          <p:nvPr/>
        </p:nvSpPr>
        <p:spPr>
          <a:xfrm>
            <a:off x="117300" y="0"/>
            <a:ext cx="4686300" cy="5274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sz="2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88"/>
          <p:cNvSpPr/>
          <p:nvPr/>
        </p:nvSpPr>
        <p:spPr>
          <a:xfrm>
            <a:off x="1007600" y="100410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Transition To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="1" baseline="300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Full Autonomy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Via</a:t>
            </a: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SLAM </a:t>
            </a:r>
            <a:endParaRPr sz="2600" b="1" baseline="30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88"/>
          <p:cNvSpPr/>
          <p:nvPr/>
        </p:nvSpPr>
        <p:spPr>
          <a:xfrm>
            <a:off x="198800" y="1124125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88"/>
          <p:cNvSpPr/>
          <p:nvPr/>
        </p:nvSpPr>
        <p:spPr>
          <a:xfrm>
            <a:off x="198800" y="2102850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88"/>
          <p:cNvSpPr/>
          <p:nvPr/>
        </p:nvSpPr>
        <p:spPr>
          <a:xfrm>
            <a:off x="198793" y="4071626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5" name="Google Shape;735;p88"/>
          <p:cNvSpPr/>
          <p:nvPr/>
        </p:nvSpPr>
        <p:spPr>
          <a:xfrm>
            <a:off x="1007600" y="2967238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Multi Robot Integration &amp; Fleet Management Operations</a:t>
            </a:r>
            <a:endParaRPr sz="2600" b="1" baseline="30000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6" name="Google Shape;736;p88"/>
          <p:cNvSpPr/>
          <p:nvPr/>
        </p:nvSpPr>
        <p:spPr>
          <a:xfrm>
            <a:off x="1007600" y="3951625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 b="1" baseline="300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Design Optimizations; 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Charging Dock, PoS Integration, Moveable Trays, Voice Commands, Advanced UI &amp; Language Support</a:t>
            </a:r>
            <a:endParaRPr sz="2600" b="1" baseline="300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7" name="Google Shape;737;p88"/>
          <p:cNvSpPr/>
          <p:nvPr/>
        </p:nvSpPr>
        <p:spPr>
          <a:xfrm>
            <a:off x="198804" y="3081601"/>
            <a:ext cx="656100" cy="591600"/>
          </a:xfrm>
          <a:prstGeom prst="ellipse">
            <a:avLst/>
          </a:prstGeom>
          <a:solidFill>
            <a:srgbClr val="741B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88"/>
          <p:cNvSpPr/>
          <p:nvPr/>
        </p:nvSpPr>
        <p:spPr>
          <a:xfrm>
            <a:off x="1007600" y="1982850"/>
            <a:ext cx="8013600" cy="83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 Time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="1" baseline="300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Path Re-Planning</a:t>
            </a:r>
            <a:r>
              <a:rPr lang="en" sz="2600" baseline="30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en" sz="2600" b="1" baseline="300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Dynamic Obstacle Avoidance</a:t>
            </a:r>
            <a:endParaRPr sz="2600" b="1" baseline="30000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  <p:sp>
        <p:nvSpPr>
          <p:cNvPr id="744" name="Google Shape;744;p89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sp>
        <p:nvSpPr>
          <p:cNvPr id="750" name="Google Shape;750;p90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1212</Words>
  <Application>Microsoft Office PowerPoint</Application>
  <PresentationFormat>On-screen Show (16:9)</PresentationFormat>
  <Paragraphs>373</Paragraphs>
  <Slides>59</Slides>
  <Notes>59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Montserrat</vt:lpstr>
      <vt:lpstr>Montserrat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Ata Ul Haiy</dc:creator>
  <cp:lastModifiedBy>muneeb hi</cp:lastModifiedBy>
  <cp:revision>2</cp:revision>
  <dcterms:modified xsi:type="dcterms:W3CDTF">2026-10-15T10:20:43Z</dcterms:modified>
</cp:coreProperties>
</file>